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vpteam\GLIDE-Net\docs\assets\ui-works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841248"/>
            <a:ext cx="4779996" cy="5175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10058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spc="220" kern="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课程实践 · 2026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713232" y="1316736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GLIDE-Net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13969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铁路表面缺陷检测工作站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274320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分割找像素，检测认类别，规则定档位，最后做成一个能上传能批量的界面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3749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0.8718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42611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S-measure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249424" y="3749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0.0501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2249424" y="42611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785616" y="3749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0.9129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3785616" y="42611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max-F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321808" y="3749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0.9475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5321808" y="42611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46268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四项指标与论文逐位一致，与 11 种方法比 S-measure 排第一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59436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小组 7 人，A 到 G 各管一块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任务定义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一张钢轨图上的三个问题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人工巡检靠眼睛和手电，一个天窗点只能走几公里。系统要在同一张图上回答三个层次的问题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3493008" cy="2304288"/>
          </a:xfrm>
          <a:prstGeom prst="roundRect">
            <a:avLst>
              <a:gd name="adj" fmla="val 2381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212140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4C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分割 · 像素级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43230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缺陷落在哪些像素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798064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GLIDE-Net 吃 RGB 加深度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输出逐像素概率掩膜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主指标看 S-measure 和 MAE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15968" y="1975104"/>
            <a:ext cx="3493008" cy="2304288"/>
          </a:xfrm>
          <a:prstGeom prst="roundRect">
            <a:avLst>
              <a:gd name="adj" fmla="val 2381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17136" y="212140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 · 实例级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43230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这块缺陷属于哪一类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2798064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YOLOv8m 在 NEU-DET 六类上训练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给出候选框和类别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六类覆盖课程的至少三类要求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5008" y="1975104"/>
            <a:ext cx="3493008" cy="2304288"/>
          </a:xfrm>
          <a:prstGeom prst="roundRect">
            <a:avLst>
              <a:gd name="adj" fmla="val 2381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66176" y="212140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 · 决策级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43230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要不要停机复检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798064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规则引擎，不训模型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面积、细长比、置信度合成评分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落到轻微、中等、严重三档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517136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1B2531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" y="4663440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课程给的四条考核线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974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mAP@0.5 ≥ 85%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5285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划伤 0.946、斑块 0.910、麻点 0.860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4974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单张 &lt; 100 ms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547872" y="5285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 P50 60.9 ms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974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至少 3 类缺陷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5285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六类全覆盖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070848" y="4974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 100 张不崩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70848" y="5285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张连跑 0 失败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模型结构沿用原论文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总参数 242.06 M，可训练的只有 29.91 M。8 GB 显存装不下全量微调，冻结主干加轻量适配是这里走得通的做法</a:t>
            </a:r>
            <a:endParaRPr lang="en-US" sz="1250" dirty="0"/>
          </a:p>
        </p:txBody>
      </p:sp>
      <p:pic>
        <p:nvPicPr>
          <p:cNvPr id="7" name="Image 0" descr="D:\projects\vpteam\GLIDE-Net\docs\assets\glide-net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103120"/>
            <a:ext cx="11155680" cy="14378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M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4498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总参数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328416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29.9 M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3328416" y="4498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可训练 · 12.4%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089904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 M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6089904" y="4498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冻结的 Hiera 主干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51392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 GB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8851392" y="4498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全量微调峰值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0292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可训练的 29.9 M 分成五块，Adapter 1.71 M、CNN-RGB 8.96 M、CNN-Depth 8.94 M、CMF 2.61 M、MSDEF 7.68 M。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43153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深度分支按通道和位置给 RGB 特征加权，解码器把四个尺度逐级细化回原图。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复现结果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复现结果对得上论文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四项指标都落在小数点后四位，后面的工程增量才站得住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2596896" cy="1207008"/>
          </a:xfrm>
          <a:prstGeom prst="roundRect">
            <a:avLst>
              <a:gd name="adj" fmla="val 4545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2103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5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S-measure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3408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0.8718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86207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结构相似度 · 主指标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28416" y="1975104"/>
            <a:ext cx="2596896" cy="1207008"/>
          </a:xfrm>
          <a:prstGeom prst="roundRect">
            <a:avLst>
              <a:gd name="adj" fmla="val 4545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9584" y="2103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5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max-F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23408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0.9129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286207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 F 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9904" y="1975104"/>
            <a:ext cx="2596896" cy="1207008"/>
          </a:xfrm>
          <a:prstGeom prst="roundRect">
            <a:avLst>
              <a:gd name="adj" fmla="val 4545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91072" y="2103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5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23408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0.9475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86207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最大增强对齐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51392" y="1975104"/>
            <a:ext cx="2596896" cy="1207008"/>
          </a:xfrm>
          <a:prstGeom prst="roundRect">
            <a:avLst>
              <a:gd name="adj" fmla="val 4545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52560" y="2103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5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3408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0.0501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86207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平均绝对误差 · 越低越好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3101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S-measure 前五名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21024"/>
          <a:ext cx="5029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S-measure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GLIDE-Net 本组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MENet-KD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RDNet-KD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OpenRSS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66928" y="3621024"/>
            <a:ext cx="5029200" cy="310896"/>
          </a:xfrm>
          <a:prstGeom prst="rect">
            <a:avLst/>
          </a:prstGeom>
          <a:solidFill>
            <a:srgbClr val="101821"/>
          </a:solidFill>
          <a:ln w="12700">
            <a:solidFill>
              <a:srgbClr val="10182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362102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3456432" y="362102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S-measure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53712" y="362102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3310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四个消融变体</a:t>
            </a:r>
            <a:endParaRPr lang="en-US" sz="11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3621024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消融变体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S-measure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w_o_Transformer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-0.1622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w_o_MSDEF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-0.0077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w_o_CMF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-0.0056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w_o_CNN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-0.0042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</a:tbl>
          </a:graphicData>
        </a:graphic>
      </p:graphicFrame>
      <p:sp>
        <p:nvSpPr>
          <p:cNvPr id="31" name="Shape 27"/>
          <p:cNvSpPr/>
          <p:nvPr/>
        </p:nvSpPr>
        <p:spPr>
          <a:xfrm>
            <a:off x="7406640" y="3621024"/>
            <a:ext cx="3840480" cy="310896"/>
          </a:xfrm>
          <a:prstGeom prst="rect">
            <a:avLst/>
          </a:prstGeom>
          <a:solidFill>
            <a:srgbClr val="101821"/>
          </a:solidFill>
          <a:ln w="12700">
            <a:solidFill>
              <a:srgbClr val="101821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461504" y="362102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消融变体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9290304" y="362102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S-measure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10296144" y="362102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ΔS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7406640" y="51755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拿掉 Transformer 掉 0.16，模型基本失效。其余三项都在 0.008 以内，下一页单独说这一项。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消融里最值得追问的一项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四个变体都按预期下降，唯独去掉深度 CNN 只掉 0.0042。追下去，问题在数据管线，不在模型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2494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w_o_Transformer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75888" y="2276856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101821"/>
          </a:solidFill>
          <a:ln w="12700">
            <a:solidFill>
              <a:srgbClr val="1018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75888" y="2276856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05472" y="2249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-0.1622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9077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w_o_MSDEF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75888" y="2935224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101821"/>
          </a:solidFill>
          <a:ln w="12700">
            <a:solidFill>
              <a:srgbClr val="1018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88" y="2935224"/>
            <a:ext cx="160612" cy="256032"/>
          </a:xfrm>
          <a:prstGeom prst="roundRect">
            <a:avLst>
              <a:gd name="adj" fmla="val 17080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05472" y="2907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-0.0077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566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w_o_CMF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75888" y="3593592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101821"/>
          </a:solidFill>
          <a:ln w="12700">
            <a:solidFill>
              <a:srgbClr val="10182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5888" y="3593592"/>
            <a:ext cx="116809" cy="256032"/>
          </a:xfrm>
          <a:prstGeom prst="roundRect">
            <a:avLst>
              <a:gd name="adj" fmla="val 23484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05472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-0.0056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224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w_o_CNN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75888" y="4251960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101821"/>
          </a:solidFill>
          <a:ln w="12700">
            <a:solidFill>
              <a:srgbClr val="10182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4251960"/>
            <a:ext cx="87607" cy="256032"/>
          </a:xfrm>
          <a:prstGeom prst="roundRect">
            <a:avLst>
              <a:gd name="adj" fmla="val 313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05472" y="4224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-0.0042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1847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ΔS 相对完整模型（S = 0.8718）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956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是主干，拿掉就塌。另外三项各自不到 0.01，单看数字会以为这三个模块都没用。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47888" y="1847088"/>
            <a:ext cx="3364992" cy="3017520"/>
          </a:xfrm>
          <a:prstGeom prst="roundRect">
            <a:avLst>
              <a:gd name="adj" fmla="val 1818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49056" y="199339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深度这一项为什么可疑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2304288"/>
            <a:ext cx="296265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数据集里的深度是 16 位 TIFF，PIL 的 convert("L") 会把它压成纯白，深度通道实际是常数。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换成 min-max 拉伸后，掩膜 IoU 仍是 0.9916，说明现权重没学到深度。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要验证这两个模块，得拿拉伸后的数据重训。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从论文模型到能演示的系统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论文只评掩膜。课堂要看的是能上传、能出报告、能批量跑，所以外面还得包三层</a:t>
            </a:r>
            <a:endParaRPr lang="en-US" sz="1250" dirty="0"/>
          </a:p>
        </p:txBody>
      </p:sp>
      <p:pic>
        <p:nvPicPr>
          <p:cNvPr id="7" name="Image 0" descr="D:\projects\vpteam\GLIDE-Net\docs\assets\system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11680"/>
            <a:ext cx="10698480" cy="31114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5504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原论文的部分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797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分割模型和训练好的权重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42816" y="5504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60" kern="0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我们新加的部分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242816" y="5797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检测分支、融合分级、批量流水线、界面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918704" y="5504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60" kern="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一条数据流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918704" y="5797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界面、CSV、评测脚本读同一份报告对象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工作站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演示时点的就是这个界面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起在 7860 端口，四点五秒就好。四个 Tab 分别对应验收里的四件事</a:t>
            </a:r>
            <a:endParaRPr lang="en-US" sz="1250" dirty="0"/>
          </a:p>
        </p:txBody>
      </p:sp>
      <p:pic>
        <p:nvPicPr>
          <p:cNvPr id="7" name="Image 0" descr="D:\projects\vpteam\GLIDE-Net\docs\assets\ui-works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847088"/>
            <a:ext cx="3986145" cy="43159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82896" y="1883664"/>
            <a:ext cx="6729984" cy="932688"/>
          </a:xfrm>
          <a:prstGeom prst="roundRect">
            <a:avLst>
              <a:gd name="adj" fmla="val 5882"/>
            </a:avLst>
          </a:prstGeom>
          <a:solidFill>
            <a:srgbClr val="1B2531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84064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单图检测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84064" y="2304288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 RGB 和深度，出四联视图、叠加图和报告卡，阈值拉到 0.7 面积和评分一起变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82896" y="2926080"/>
            <a:ext cx="6729984" cy="932688"/>
          </a:xfrm>
          <a:prstGeom prst="roundRect">
            <a:avLst>
              <a:gd name="adj" fmla="val 5882"/>
            </a:avLst>
          </a:prstGeom>
          <a:solidFill>
            <a:srgbClr val="1B2531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084064" y="3035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批量检测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084064" y="3346704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一次选 20 张，每张一行判定、缺陷数、面积、档位、耗时，结果能导出 CSV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82896" y="3968496"/>
            <a:ext cx="6729984" cy="932688"/>
          </a:xfrm>
          <a:prstGeom prst="roundRect">
            <a:avLst>
              <a:gd name="adj" fmla="val 5882"/>
            </a:avLst>
          </a:prstGeom>
          <a:solidFill>
            <a:srgbClr val="1B2531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084064" y="4078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C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模型指标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084064" y="4389120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复现指标、消融、系统评测、四种后端延迟，全部从结果文件读，不手抄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82896" y="5010912"/>
            <a:ext cx="6729984" cy="932688"/>
          </a:xfrm>
          <a:prstGeom prst="roundRect">
            <a:avLst>
              <a:gd name="adj" fmla="val 5882"/>
            </a:avLst>
          </a:prstGeom>
          <a:solidFill>
            <a:srgbClr val="1B2531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084064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系统说明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084064" y="5431536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流水线、分级公式、阈值来源和复现命令，被问到直接翻这一页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882896" y="59618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截图是测试图上的真实结果，判定中等，面积 20.58%，评分 37.3，端到端 238 ms。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单图流水线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一张图进来会经过什么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两条分支并行推理，掩膜连通域按 IoU 继承检测框的类别，再按规则定档</a:t>
            </a:r>
            <a:endParaRPr lang="en-US" sz="1250" dirty="0"/>
          </a:p>
        </p:txBody>
      </p:sp>
      <p:pic>
        <p:nvPicPr>
          <p:cNvPr id="7" name="Image 0" descr="D:\projects\vpteam\GLIDE-Net\docs\assets\pipeline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28800"/>
            <a:ext cx="9326880" cy="21451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0782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60.9 ms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 P50，362 张实测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328416" y="40782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 ms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328416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其中分割推理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089904" y="40782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 ms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6089904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其中检测推理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51392" y="40782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55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8851392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分级阈值，图像级取最严重区域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3035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100 · min(1, 面积/0.55) · (1 + 0.18 · min(1, (细长比−1)/6)) · (0.75 + 0.25 · 置信度)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669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这条规则只在一个地方定义，界面、CSV 和评测脚本都调它，改常量三处一起变。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分级标定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分级阈值是量出来的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数据集只有二值掩膜，没有严重度标注，分级只能做成规则。可阈值不能凭感觉定</a:t>
            </a:r>
            <a:endParaRPr lang="en-US" sz="1250" dirty="0"/>
          </a:p>
        </p:txBody>
      </p:sp>
      <p:pic>
        <p:nvPicPr>
          <p:cNvPr id="7" name="Image 0" descr="D:\projects\vpteam\GLIDE-Net\docs\assets\severity-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83664"/>
            <a:ext cx="7406640" cy="23393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28432" y="1920240"/>
            <a:ext cx="3611880" cy="2212848"/>
          </a:xfrm>
          <a:prstGeom prst="roundRect">
            <a:avLst>
              <a:gd name="adj" fmla="val 2479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0" y="2066544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第一版定错了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377440"/>
            <a:ext cx="3209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AREA_REFERENCE = 0.12 还带 sqrt，抽 40 张跑下来 40 张全判严重，三档退化成一档。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真值面积的分位数是 p50 0.25、p90 0.52。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28432" y="4315968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0" y="4462272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重新标定后 全量 362 张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轻微 102 / 中等 120 / 严重 140，三档比例接近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44988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参考值改成 0.55，约等于真值面积的 p93，同时去掉 sqrt。第一次只抽 40 张就下结论，全量复测才看出来。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4937760"/>
            <a:ext cx="7223760" cy="1188720"/>
          </a:xfrm>
          <a:prstGeom prst="roundRect">
            <a:avLst>
              <a:gd name="adj" fmla="val 4615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68096" y="5084064"/>
            <a:ext cx="682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4C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标定没有碰评测指标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" y="5394960"/>
            <a:ext cx="6821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分位数取自真值掩膜的面积分布，S-measure 和 MAE 一个都没参与。所以调阈值只会改变判定，不会让复现分数变好看。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系统实测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362 张测试图的整体表现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全量跑完没有一张失败。分割和检测是两条独立分支，各自有自己的指标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覆盖 / 失败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 /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全量测试集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掩膜 IoU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P10 0.7106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0.904 / R 0.914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端到端 P50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60.9 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 98.2 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批量 100 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成功 / 0 失败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8.87 s · 每秒 11.27 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判定分布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 / 120 / 140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轻微 / 中等 / 严重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1975104"/>
            <a:ext cx="6766560" cy="347472"/>
          </a:xfrm>
          <a:prstGeom prst="rect">
            <a:avLst/>
          </a:prstGeom>
          <a:solidFill>
            <a:srgbClr val="101821"/>
          </a:solidFill>
          <a:ln w="12700">
            <a:solidFill>
              <a:srgbClr val="10182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9751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724912" y="197510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实测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102352" y="197510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19751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检测分支按类别看</a:t>
            </a:r>
            <a:endParaRPr lang="en-US" sz="11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286000"/>
          <a:ext cx="4114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缺陷类别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mAP@0.5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 0.85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scratches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达标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达标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pitted_surface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达标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315200" y="2286000"/>
            <a:ext cx="4114800" cy="384048"/>
          </a:xfrm>
          <a:prstGeom prst="rect">
            <a:avLst/>
          </a:prstGeom>
          <a:solidFill>
            <a:srgbClr val="101821"/>
          </a:solidFill>
          <a:ln w="12700">
            <a:solidFill>
              <a:srgbClr val="10182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28600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缺陷类别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9290304" y="22860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mAP@0.5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0387584" y="22860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0.85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31520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这三类都过了课程的 0.85 线，划伤排第一。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315200" y="4535424"/>
            <a:ext cx="4315968" cy="1591056"/>
          </a:xfrm>
          <a:prstGeom prst="roundRect">
            <a:avLst>
              <a:gd name="adj" fmla="val 3448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7516368" y="468172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 100 张的类别分布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516368" y="4992624"/>
            <a:ext cx="3913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夹杂 17　斑块 16　麻点 6　划伤 4　氧化皮压入 2　龟裂 1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六类全部出现在批量结果里。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四种后端的实测延迟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张真实图、5 次预热，计时前后同步 CUDA，两次独立重跑差不到 1%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6675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05840"/>
                <a:gridCol w="2743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后端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张每秒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掩膜 IoU 均值 / 最小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torch-fp32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torch-fp16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0.9813 / 0.9638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onnx-fp32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0.9999 / 0.9998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onnx-fp16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0.9812 / 0.9627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1975104"/>
            <a:ext cx="6675120" cy="310896"/>
          </a:xfrm>
          <a:prstGeom prst="rect">
            <a:avLst/>
          </a:prstGeom>
          <a:solidFill>
            <a:srgbClr val="101821"/>
          </a:solidFill>
          <a:ln w="12700">
            <a:solidFill>
              <a:srgbClr val="10182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97510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633472" y="197510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547872" y="197510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张每秒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197510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掩膜 IoU 均值 / 最小</a:t>
            </a:r>
            <a:endParaRPr lang="en-US" sz="1050" dirty="0"/>
          </a:p>
        </p:txBody>
      </p:sp>
      <p:pic>
        <p:nvPicPr>
          <p:cNvPr id="13" name="Image 0" descr="D:\projects\vpteam\GLIDE-Net\docs\assets\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3803904"/>
            <a:ext cx="6583680" cy="218496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223760" y="1975104"/>
            <a:ext cx="4407408" cy="1371600"/>
          </a:xfrm>
          <a:prstGeom prst="roundRect">
            <a:avLst>
              <a:gd name="adj" fmla="val 4000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424928" y="212140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线上默认用 torch fp16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424928" y="2432304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 ms，比 fp32 快 2.18 倍，掩膜 IoU 0.981。不用导出，权重一改就生效。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223760" y="3493008"/>
            <a:ext cx="4407408" cy="1371600"/>
          </a:xfrm>
          <a:prstGeom prst="roundRect">
            <a:avLst>
              <a:gd name="adj" fmla="val 4000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424928" y="36393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4C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用来保证可移植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424928" y="3950208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的 ONNX 和 torch 只差 2.7e-05，换机器不换代码。它不是加速手段。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223760" y="5010912"/>
            <a:ext cx="4407408" cy="1115568"/>
          </a:xfrm>
          <a:prstGeom prst="roundRect">
            <a:avLst>
              <a:gd name="adj" fmla="val 4918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424928" y="515721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TensorRT 没做成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424928" y="5468112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GB 显存被训练占满，页面文件也不够，引擎构建被系统拒绝。没测到就不写数字。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过程记录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几个花了时间才改对的地方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下面这些都能在实验日志里查到现象、定位过程和改法，这里只挑三条跟结果有关的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2084832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延迟第一次量出了一倍误差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395728"/>
            <a:ext cx="106555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初测端到端 175 ms，重测是 88 ms。没预热、没等 CUDA 做完、样本只取 12 张，还把同时在跑的训练算进去了。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改法是把预热次数和同步写进基准脚本，固定 24 张，两次独立重跑差异压到 1% 以内。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255264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8096" y="3401568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深度通道一直是常数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712464"/>
            <a:ext cx="106555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位 TIFF 走 PIL 的 convert("L") 会被压成纯白，所以消融里去掉深度只掉 0.0042。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服务层改成 min-max 拉伸，8 张图对比掩膜 IoU 0.9916，说明修的是输入，不是权重。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572000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8096" y="4718304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4C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分级第一版三档退化成一档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029200"/>
            <a:ext cx="106555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初版参考值 0.12 还带 sqrt，抽 40 张跑出来 40 张全判严重。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362 张真值面积的分位数重新标定到 0.55，三档变成 102 / 120 / 140。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现在能做什么，还差什么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能演示的部分都有命令和文件对应，减分项也写清楚停在哪一步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486400" cy="2048256"/>
          </a:xfrm>
          <a:prstGeom prst="roundRect">
            <a:avLst>
              <a:gd name="adj" fmla="val 2679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2103120"/>
            <a:ext cx="5084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30A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已经能演示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414016"/>
            <a:ext cx="50840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论文四项指标复现，S 0.8718，MAE 0.0501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362 张端到端 0 失败，P50 60.9 ms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六类缺陷、三级判定、单图和批量两种入口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一条命令自检 40 项断言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956816"/>
            <a:ext cx="5486400" cy="2048256"/>
          </a:xfrm>
          <a:prstGeom prst="roundRect">
            <a:avLst>
              <a:gd name="adj" fmla="val 2679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45936" y="2103120"/>
            <a:ext cx="5084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还没做完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2414016"/>
            <a:ext cx="50840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检测整体 mAP@0.5 为 0.772，三类过 0.85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龟裂和氧化皮压入是低对比度纹理，还没到位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TensorRT 引擎没构建出来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深度流没有用拉伸后的数据重训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206240"/>
            <a:ext cx="11057839" cy="1700784"/>
          </a:xfrm>
          <a:prstGeom prst="roundRect">
            <a:avLst>
              <a:gd name="adj" fmla="val 3226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8096" y="4352544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接下来三件事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4663440"/>
            <a:ext cx="10655503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用拉伸后的深度重训，看 CMF 和 CNN 分流的真实贡献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分割与检测放两个 CUDA stream，把 60.9 ms 压到 45 ms 左右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拿产线人工评级做分级一致性检验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1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可复现性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这些数字怎么复核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所有承诺都能用命令跑一遍，任何一条不满足，脚本返回非零退出码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766560" cy="969264"/>
          </a:xfrm>
          <a:prstGeom prst="roundRect">
            <a:avLst>
              <a:gd name="adj" fmla="val 5660"/>
            </a:avLst>
          </a:prstGeom>
          <a:solidFill>
            <a:srgbClr val="1B2531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2157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tools/verify.py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4871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项断言，覆盖指标、评测口径、文档链接、忽略规则、图表和单测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6766560" cy="969264"/>
          </a:xfrm>
          <a:prstGeom prst="roundRect">
            <a:avLst>
              <a:gd name="adj" fmla="val 5660"/>
            </a:avLst>
          </a:prstGeom>
          <a:solidFill>
            <a:srgbClr val="1B2531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8096" y="32552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pytest tests -q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5844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个用例全过，只用 CPU，不需要权重和 GPU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206240"/>
            <a:ext cx="6766560" cy="969264"/>
          </a:xfrm>
          <a:prstGeom prst="roundRect">
            <a:avLst>
              <a:gd name="adj" fmla="val 5660"/>
            </a:avLst>
          </a:prstGeom>
          <a:solidFill>
            <a:srgbClr val="1B2531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8096" y="435254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app.main --port 7860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46817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四点五秒起服务，四个 Tab 都在现场点过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99248" y="2011680"/>
            <a:ext cx="3913632" cy="2231136"/>
          </a:xfrm>
          <a:prstGeom prst="roundRect">
            <a:avLst>
              <a:gd name="adj" fmla="val 2459"/>
            </a:avLst>
          </a:prstGeom>
          <a:solidFill>
            <a:srgbClr val="151E27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900416" y="215798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4C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 下 11 篇文档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505456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 · 功能 · 数据 · 评测 · 分级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 · 实验日志 · 分工 · 验收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 · 索引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3639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每个数字都标了来源文件，每张图由脚本生成，不手改 PNG。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99248" y="4498848"/>
            <a:ext cx="3913632" cy="1060704"/>
          </a:xfrm>
          <a:prstGeom prst="roundRect">
            <a:avLst>
              <a:gd name="adj" fmla="val 5172"/>
            </a:avLst>
          </a:prstGeom>
          <a:solidFill>
            <a:srgbClr val="1B2531"/>
          </a:solidFill>
          <a:ln w="12700">
            <a:solidFill>
              <a:srgbClr val="1B253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00416" y="464515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60" kern="0" dirty="0">
                <a:solidFill>
                  <a:srgbClr val="86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小组分工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00416" y="49560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人（A 到 G），分工和验收证据在 docs/team.md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057839" y="61996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GLIDE-Net 铁路表面缺陷检测</dc:title>
  <dc:subject>PptxGenJS Presentation</dc:subject>
  <dc:creator>GLIDE-Net course practice</dc:creator>
  <cp:lastModifiedBy>GLIDE-Net course practice</cp:lastModifiedBy>
  <cp:revision>1</cp:revision>
  <dcterms:created xsi:type="dcterms:W3CDTF">2026-10-23T06:45:29Z</dcterms:created>
  <dcterms:modified xsi:type="dcterms:W3CDTF">2026-10-23T06:45:29Z</dcterms:modified>
</cp:coreProperties>
</file>